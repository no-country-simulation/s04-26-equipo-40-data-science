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1218882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vovdW6pKFSeDgOTr2/TQf82VA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9" name="Google Shape;17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8" name="Google Shape;2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5" name="Google Shape;26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9" name="Google Shape;3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79" name="Google Shape;37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30" name="Google Shape;4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9" name="Google Shape;46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5303400" cy="68580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5303400" cy="732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5303520" y="3200400"/>
            <a:ext cx="6885300" cy="3660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1463050" y="640076"/>
            <a:ext cx="2377500" cy="1283700"/>
          </a:xfrm>
          <a:prstGeom prst="rect">
            <a:avLst/>
          </a:prstGeom>
          <a:solidFill>
            <a:srgbClr val="1E2A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2011680" y="777240"/>
            <a:ext cx="1280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320040" y="1981285"/>
            <a:ext cx="466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ConversaAI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"/>
          <p:cNvSpPr txBox="1"/>
          <p:nvPr/>
        </p:nvSpPr>
        <p:spPr>
          <a:xfrm>
            <a:off x="320040" y="2575645"/>
            <a:ext cx="46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NLP Pipeline v2.0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914400" y="3078565"/>
            <a:ext cx="3474600" cy="3660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320040" y="3215725"/>
            <a:ext cx="4663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No-Country Simulation  ·  S04-26</a:t>
            </a:r>
            <a:endParaRPr b="1"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320040" y="3490045"/>
            <a:ext cx="4663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Equipo 40  ·  Data Science</a:t>
            </a:r>
            <a:endParaRPr b="1"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5669280" y="1280160"/>
            <a:ext cx="612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Análisis de Sentimientos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5669280" y="1828800"/>
            <a:ext cx="612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lang="en-US" sz="2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 Intención para Soporte al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5669280" y="2514600"/>
            <a:ext cx="6126600" cy="366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5669280" y="2618252"/>
            <a:ext cx="612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Pipeline de NLP en Español &amp; Portugués con detección</a:t>
            </a:r>
            <a:br>
              <a:rPr b="0" i="0" lang="en-US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de frustración y predicción de churn en tiempo real.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5669280" y="5557885"/>
            <a:ext cx="1371600" cy="41160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"/>
          <p:cNvSpPr txBox="1"/>
          <p:nvPr/>
        </p:nvSpPr>
        <p:spPr>
          <a:xfrm>
            <a:off x="5669280" y="5557885"/>
            <a:ext cx="137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97.2%  Precisión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1"/>
          <p:cNvSpPr/>
          <p:nvPr/>
        </p:nvSpPr>
        <p:spPr>
          <a:xfrm>
            <a:off x="7178040" y="5557885"/>
            <a:ext cx="1371600" cy="4116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"/>
          <p:cNvSpPr txBox="1"/>
          <p:nvPr/>
        </p:nvSpPr>
        <p:spPr>
          <a:xfrm>
            <a:off x="7178040" y="5557885"/>
            <a:ext cx="137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271K  Reviews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/>
          <p:nvPr/>
        </p:nvSpPr>
        <p:spPr>
          <a:xfrm>
            <a:off x="8686800" y="5557885"/>
            <a:ext cx="1371600" cy="41160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/>
          <p:cNvSpPr txBox="1"/>
          <p:nvPr/>
        </p:nvSpPr>
        <p:spPr>
          <a:xfrm>
            <a:off x="8686800" y="5557885"/>
            <a:ext cx="137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4  Modelos NLP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"/>
          <p:cNvSpPr/>
          <p:nvPr/>
        </p:nvSpPr>
        <p:spPr>
          <a:xfrm>
            <a:off x="10195560" y="5557885"/>
            <a:ext cx="1371600" cy="41160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/>
          <p:cNvSpPr txBox="1"/>
          <p:nvPr/>
        </p:nvSpPr>
        <p:spPr>
          <a:xfrm>
            <a:off x="10195560" y="5557885"/>
            <a:ext cx="1371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24  Tests 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"/>
          <p:cNvSpPr txBox="1"/>
          <p:nvPr/>
        </p:nvSpPr>
        <p:spPr>
          <a:xfrm>
            <a:off x="5669280" y="6309360"/>
            <a:ext cx="61266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Mayo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5639942" y="3636778"/>
            <a:ext cx="594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🤝  No-Country:</a:t>
            </a:r>
            <a:endParaRPr b="1"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108" name="Google Shape;108;p1"/>
          <p:cNvSpPr txBox="1"/>
          <p:nvPr/>
        </p:nvSpPr>
        <p:spPr>
          <a:xfrm>
            <a:off x="5669275" y="3911100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github.com/No-Country-simulation/S04-26-</a:t>
            </a:r>
            <a:r>
              <a:rPr b="1" lang="en-US" sz="13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Equipo-40-Data-Science/tree/dashboard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"/>
          <p:cNvSpPr txBox="1"/>
          <p:nvPr/>
        </p:nvSpPr>
        <p:spPr>
          <a:xfrm>
            <a:off x="285750" y="3842450"/>
            <a:ext cx="46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Rosa Isela González Díaz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7B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k </a:t>
            </a:r>
            <a:r>
              <a:rPr lang="en-US" sz="9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https://www.linkedin.com/in/rosa-isela-gonzález-díaz/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0" name="Google Shape;11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100" y="3846250"/>
            <a:ext cx="379875" cy="37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75" y="4073125"/>
            <a:ext cx="162575" cy="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"/>
          <p:cNvSpPr txBox="1"/>
          <p:nvPr/>
        </p:nvSpPr>
        <p:spPr>
          <a:xfrm>
            <a:off x="285750" y="4394900"/>
            <a:ext cx="46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Jefferson Torres Mangler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7B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k </a:t>
            </a:r>
            <a:r>
              <a:rPr lang="en-US" sz="9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https://www.linkedin.com/in/jefferson-torres-datascientist/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3" name="Google Shape;113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75" y="4625575"/>
            <a:ext cx="162575" cy="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"/>
          <p:cNvSpPr txBox="1"/>
          <p:nvPr/>
        </p:nvSpPr>
        <p:spPr>
          <a:xfrm>
            <a:off x="285750" y="4947350"/>
            <a:ext cx="46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Dody Dueñas Remache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7B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k </a:t>
            </a:r>
            <a:r>
              <a:rPr lang="en-US" sz="9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https://www.linkedin.com/in/dody-duenas/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75" y="5178025"/>
            <a:ext cx="162575" cy="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"/>
          <p:cNvSpPr txBox="1"/>
          <p:nvPr/>
        </p:nvSpPr>
        <p:spPr>
          <a:xfrm>
            <a:off x="285750" y="5480750"/>
            <a:ext cx="46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Geyson David Morales Ccasa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7B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k </a:t>
            </a:r>
            <a:r>
              <a:rPr lang="en-US" sz="9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https://www.linkedin.com/in/rosa-isela-gonz%C3%A1lez-d%C3%ADaz/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7" name="Google Shape;117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75" y="5711425"/>
            <a:ext cx="162575" cy="1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100" y="5518500"/>
            <a:ext cx="379875" cy="379875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119" name="Google Shape;119;p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575" y="4424588"/>
            <a:ext cx="379875" cy="379875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120" name="Google Shape;120;p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089" y="4975138"/>
            <a:ext cx="379875" cy="37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2"/>
          <p:cNvSpPr/>
          <p:nvPr/>
        </p:nvSpPr>
        <p:spPr>
          <a:xfrm>
            <a:off x="11430000" y="6492240"/>
            <a:ext cx="411480" cy="2286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1143000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548640" y="22860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/>
          <p:nvPr/>
        </p:nvSpPr>
        <p:spPr>
          <a:xfrm>
            <a:off x="548640" y="868680"/>
            <a:ext cx="228600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"/>
          <p:cNvSpPr/>
          <p:nvPr/>
        </p:nvSpPr>
        <p:spPr>
          <a:xfrm>
            <a:off x="548640" y="1143000"/>
            <a:ext cx="594360" cy="594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548640" y="1143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1280160" y="123444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Descripción del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/>
          <p:nvPr/>
        </p:nvSpPr>
        <p:spPr>
          <a:xfrm>
            <a:off x="548640" y="2377440"/>
            <a:ext cx="594360" cy="59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548640" y="2377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2"/>
          <p:cNvSpPr txBox="1"/>
          <p:nvPr/>
        </p:nvSpPr>
        <p:spPr>
          <a:xfrm>
            <a:off x="1280160" y="246888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Arquitectura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2"/>
          <p:cNvSpPr/>
          <p:nvPr/>
        </p:nvSpPr>
        <p:spPr>
          <a:xfrm>
            <a:off x="548640" y="3611880"/>
            <a:ext cx="594360" cy="59436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"/>
          <p:cNvSpPr txBox="1"/>
          <p:nvPr/>
        </p:nvSpPr>
        <p:spPr>
          <a:xfrm>
            <a:off x="548640" y="36118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2"/>
          <p:cNvSpPr txBox="1"/>
          <p:nvPr/>
        </p:nvSpPr>
        <p:spPr>
          <a:xfrm>
            <a:off x="1280160" y="37033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NLP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"/>
          <p:cNvSpPr/>
          <p:nvPr/>
        </p:nvSpPr>
        <p:spPr>
          <a:xfrm>
            <a:off x="548640" y="4846320"/>
            <a:ext cx="594360" cy="59436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"/>
          <p:cNvSpPr txBox="1"/>
          <p:nvPr/>
        </p:nvSpPr>
        <p:spPr>
          <a:xfrm>
            <a:off x="548640" y="48463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2"/>
          <p:cNvSpPr txBox="1"/>
          <p:nvPr/>
        </p:nvSpPr>
        <p:spPr>
          <a:xfrm>
            <a:off x="1280160" y="493776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Modelos y Comparativa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"/>
          <p:cNvSpPr/>
          <p:nvPr/>
        </p:nvSpPr>
        <p:spPr>
          <a:xfrm>
            <a:off x="6400800" y="1143000"/>
            <a:ext cx="594360" cy="594360"/>
          </a:xfrm>
          <a:prstGeom prst="rect">
            <a:avLst/>
          </a:prstGeom>
          <a:solidFill>
            <a:srgbClr val="FB71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"/>
          <p:cNvSpPr txBox="1"/>
          <p:nvPr/>
        </p:nvSpPr>
        <p:spPr>
          <a:xfrm>
            <a:off x="6400800" y="114300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"/>
          <p:cNvSpPr txBox="1"/>
          <p:nvPr/>
        </p:nvSpPr>
        <p:spPr>
          <a:xfrm>
            <a:off x="7132320" y="123444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Dashboard Interactivo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2"/>
          <p:cNvSpPr/>
          <p:nvPr/>
        </p:nvSpPr>
        <p:spPr>
          <a:xfrm>
            <a:off x="6400800" y="2377440"/>
            <a:ext cx="594360" cy="59436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"/>
          <p:cNvSpPr txBox="1"/>
          <p:nvPr/>
        </p:nvSpPr>
        <p:spPr>
          <a:xfrm>
            <a:off x="6400800" y="237744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2"/>
          <p:cNvSpPr txBox="1"/>
          <p:nvPr/>
        </p:nvSpPr>
        <p:spPr>
          <a:xfrm>
            <a:off x="7132320" y="246888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Métricas y Resultados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"/>
          <p:cNvSpPr/>
          <p:nvPr/>
        </p:nvSpPr>
        <p:spPr>
          <a:xfrm>
            <a:off x="6400800" y="3611880"/>
            <a:ext cx="594360" cy="59436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"/>
          <p:cNvSpPr txBox="1"/>
          <p:nvPr/>
        </p:nvSpPr>
        <p:spPr>
          <a:xfrm>
            <a:off x="6400800" y="361188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"/>
          <p:cNvSpPr txBox="1"/>
          <p:nvPr/>
        </p:nvSpPr>
        <p:spPr>
          <a:xfrm>
            <a:off x="7132320" y="370332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Stack Tecnológico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"/>
          <p:cNvSpPr/>
          <p:nvPr/>
        </p:nvSpPr>
        <p:spPr>
          <a:xfrm>
            <a:off x="6400800" y="4846320"/>
            <a:ext cx="594360" cy="59436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"/>
          <p:cNvSpPr txBox="1"/>
          <p:nvPr/>
        </p:nvSpPr>
        <p:spPr>
          <a:xfrm>
            <a:off x="6400800" y="4846320"/>
            <a:ext cx="5943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2"/>
          <p:cNvSpPr txBox="1"/>
          <p:nvPr/>
        </p:nvSpPr>
        <p:spPr>
          <a:xfrm>
            <a:off x="7132320" y="4937760"/>
            <a:ext cx="475488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Próximos Pasos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11430000" y="6492240"/>
            <a:ext cx="411480" cy="2286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1143000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  —  El Problema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48640" y="82296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457200" y="1005840"/>
            <a:ext cx="5394960" cy="521208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/>
          <p:nvPr/>
        </p:nvSpPr>
        <p:spPr>
          <a:xfrm>
            <a:off x="457200" y="1005840"/>
            <a:ext cx="5394960" cy="54864"/>
          </a:xfrm>
          <a:prstGeom prst="rect">
            <a:avLst/>
          </a:prstGeom>
          <a:solidFill>
            <a:srgbClr val="FB71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731520" y="11430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😰  Desafío Actual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731520" y="173736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❌  Empresas reciben miles de mensajes diarios sin poder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     priorizarlos por urgencia o sentimiento.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731520" y="274320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❌  Los agentes no detectan a tiempo cuándo un cliente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     está a punto de cancelar (churn).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731520" y="3749039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❌  Sin análisis bilingüe (ES/PT), se pierden insights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     críticos de clientes latinoamericanos.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731520" y="4754879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❌  Respuesta reactiva en lugar de proactiva genera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     pérdidas económicas y baja satisfacción.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3"/>
          <p:cNvSpPr/>
          <p:nvPr/>
        </p:nvSpPr>
        <p:spPr>
          <a:xfrm>
            <a:off x="6309360" y="1005840"/>
            <a:ext cx="5394960" cy="521208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3"/>
          <p:cNvSpPr/>
          <p:nvPr/>
        </p:nvSpPr>
        <p:spPr>
          <a:xfrm>
            <a:off x="6309360" y="1005840"/>
            <a:ext cx="53949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3"/>
          <p:cNvSpPr txBox="1"/>
          <p:nvPr/>
        </p:nvSpPr>
        <p:spPr>
          <a:xfrm>
            <a:off x="6583680" y="114300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✅  Nuestra Solución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3"/>
          <p:cNvSpPr txBox="1"/>
          <p:nvPr/>
        </p:nvSpPr>
        <p:spPr>
          <a:xfrm>
            <a:off x="6583680" y="173736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✅  Pipeline NLP automático que clasifica sentimiento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     e intención en tiempo real.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3"/>
          <p:cNvSpPr txBox="1"/>
          <p:nvPr/>
        </p:nvSpPr>
        <p:spPr>
          <a:xfrm>
            <a:off x="6583680" y="2743200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✅  Detección temprana de frustración con señales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     léxicas y contextuales.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3"/>
          <p:cNvSpPr txBox="1"/>
          <p:nvPr/>
        </p:nvSpPr>
        <p:spPr>
          <a:xfrm>
            <a:off x="6583680" y="3749039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✅  Soporte bilingüe nativo: Español y Portugués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     con modelos Transformer especializados.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"/>
          <p:cNvSpPr txBox="1"/>
          <p:nvPr/>
        </p:nvSpPr>
        <p:spPr>
          <a:xfrm>
            <a:off x="6583680" y="4754879"/>
            <a:ext cx="484632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✅  Dashboard interactivo con predicción de churn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     y recomendaciones accionables.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4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4"/>
          <p:cNvSpPr/>
          <p:nvPr/>
        </p:nvSpPr>
        <p:spPr>
          <a:xfrm>
            <a:off x="11430000" y="6492240"/>
            <a:ext cx="411480" cy="2286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1143000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  —  Arquitectura del Sistema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5" name="Google Shape;185;p4"/>
          <p:cNvSpPr/>
          <p:nvPr/>
        </p:nvSpPr>
        <p:spPr>
          <a:xfrm>
            <a:off x="548640" y="822960"/>
            <a:ext cx="365760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4"/>
          <p:cNvSpPr/>
          <p:nvPr/>
        </p:nvSpPr>
        <p:spPr>
          <a:xfrm>
            <a:off x="365760" y="1005840"/>
            <a:ext cx="11430000" cy="731520"/>
          </a:xfrm>
          <a:prstGeom prst="rect">
            <a:avLst/>
          </a:prstGeom>
          <a:solidFill>
            <a:srgbClr val="0C23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4"/>
          <p:cNvSpPr/>
          <p:nvPr/>
        </p:nvSpPr>
        <p:spPr>
          <a:xfrm>
            <a:off x="365760" y="1005840"/>
            <a:ext cx="73152" cy="73152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530352" y="1051560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📥  ENTRADA DE DATOS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530352" y="1389888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Reviews / Conversaciones  ·  Español 🇪🇸  &amp;  Portugués 🇧🇷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4"/>
          <p:cNvSpPr/>
          <p:nvPr/>
        </p:nvSpPr>
        <p:spPr>
          <a:xfrm>
            <a:off x="365760" y="2011680"/>
            <a:ext cx="11430000" cy="731520"/>
          </a:xfrm>
          <a:prstGeom prst="rect">
            <a:avLst/>
          </a:prstGeom>
          <a:solidFill>
            <a:srgbClr val="1C16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4"/>
          <p:cNvSpPr/>
          <p:nvPr/>
        </p:nvSpPr>
        <p:spPr>
          <a:xfrm>
            <a:off x="365760" y="2011680"/>
            <a:ext cx="73152" cy="73152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4"/>
          <p:cNvSpPr txBox="1"/>
          <p:nvPr/>
        </p:nvSpPr>
        <p:spPr>
          <a:xfrm>
            <a:off x="530352" y="2057400"/>
            <a:ext cx="11155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🧹  PREPROCESAMIENTO (spaCy)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4"/>
          <p:cNvSpPr txBox="1"/>
          <p:nvPr/>
        </p:nvSpPr>
        <p:spPr>
          <a:xfrm>
            <a:off x="530352" y="2395728"/>
            <a:ext cx="1115568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Tokenización  ·  Lematización  ·  Normalización  ·  Eliminación de ruido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4"/>
          <p:cNvSpPr txBox="1"/>
          <p:nvPr/>
        </p:nvSpPr>
        <p:spPr>
          <a:xfrm>
            <a:off x="5669280" y="283464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4"/>
          <p:cNvSpPr/>
          <p:nvPr/>
        </p:nvSpPr>
        <p:spPr>
          <a:xfrm>
            <a:off x="365760" y="3291840"/>
            <a:ext cx="3566160" cy="1005840"/>
          </a:xfrm>
          <a:prstGeom prst="rect">
            <a:avLst/>
          </a:prstGeom>
          <a:solidFill>
            <a:srgbClr val="062A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4"/>
          <p:cNvSpPr/>
          <p:nvPr/>
        </p:nvSpPr>
        <p:spPr>
          <a:xfrm>
            <a:off x="365760" y="3291840"/>
            <a:ext cx="356616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4"/>
          <p:cNvSpPr txBox="1"/>
          <p:nvPr/>
        </p:nvSpPr>
        <p:spPr>
          <a:xfrm>
            <a:off x="502920" y="33832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🤖  Sentimiento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4"/>
          <p:cNvSpPr txBox="1"/>
          <p:nvPr/>
        </p:nvSpPr>
        <p:spPr>
          <a:xfrm>
            <a:off x="502920" y="3730752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RoBERTuito (ES)</a:t>
            </a:r>
            <a:b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BERTimbau (PT)</a:t>
            </a:r>
            <a:b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XLM-R Fine-tuned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4"/>
          <p:cNvSpPr/>
          <p:nvPr/>
        </p:nvSpPr>
        <p:spPr>
          <a:xfrm>
            <a:off x="4297680" y="3291840"/>
            <a:ext cx="3566160" cy="1005840"/>
          </a:xfrm>
          <a:prstGeom prst="rect">
            <a:avLst/>
          </a:prstGeom>
          <a:solidFill>
            <a:srgbClr val="2C1A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4"/>
          <p:cNvSpPr/>
          <p:nvPr/>
        </p:nvSpPr>
        <p:spPr>
          <a:xfrm>
            <a:off x="4297680" y="3291840"/>
            <a:ext cx="356616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4"/>
          <p:cNvSpPr txBox="1"/>
          <p:nvPr/>
        </p:nvSpPr>
        <p:spPr>
          <a:xfrm>
            <a:off x="4434840" y="33832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🎯  Intención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4"/>
          <p:cNvSpPr txBox="1"/>
          <p:nvPr/>
        </p:nvSpPr>
        <p:spPr>
          <a:xfrm>
            <a:off x="4434840" y="3730752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6 categorías:</a:t>
            </a:r>
            <a:b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Consulta · Queja · Cancelación</a:t>
            </a:r>
            <a:b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Elogio · Soporte · Info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4"/>
          <p:cNvSpPr/>
          <p:nvPr/>
        </p:nvSpPr>
        <p:spPr>
          <a:xfrm>
            <a:off x="8229600" y="3291840"/>
            <a:ext cx="3566160" cy="1005840"/>
          </a:xfrm>
          <a:prstGeom prst="rect">
            <a:avLst/>
          </a:prstGeom>
          <a:solidFill>
            <a:srgbClr val="2C08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4"/>
          <p:cNvSpPr/>
          <p:nvPr/>
        </p:nvSpPr>
        <p:spPr>
          <a:xfrm>
            <a:off x="8229600" y="3291840"/>
            <a:ext cx="3566160" cy="54864"/>
          </a:xfrm>
          <a:prstGeom prst="rect">
            <a:avLst/>
          </a:prstGeom>
          <a:solidFill>
            <a:srgbClr val="FB71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4"/>
          <p:cNvSpPr txBox="1"/>
          <p:nvPr/>
        </p:nvSpPr>
        <p:spPr>
          <a:xfrm>
            <a:off x="8366760" y="3383280"/>
            <a:ext cx="32918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😤  Frustración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4"/>
          <p:cNvSpPr txBox="1"/>
          <p:nvPr/>
        </p:nvSpPr>
        <p:spPr>
          <a:xfrm>
            <a:off x="8366760" y="3730752"/>
            <a:ext cx="3291840" cy="5303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Patrones léxicos</a:t>
            </a:r>
            <a:b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+ señales contextuales</a:t>
            </a:r>
            <a:b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+ umbral ajustable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4"/>
          <p:cNvSpPr txBox="1"/>
          <p:nvPr/>
        </p:nvSpPr>
        <p:spPr>
          <a:xfrm>
            <a:off x="5669280" y="4389120"/>
            <a:ext cx="822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4"/>
          <p:cNvSpPr/>
          <p:nvPr/>
        </p:nvSpPr>
        <p:spPr>
          <a:xfrm>
            <a:off x="365760" y="4846320"/>
            <a:ext cx="5394960" cy="777240"/>
          </a:xfrm>
          <a:prstGeom prst="rect">
            <a:avLst/>
          </a:prstGeom>
          <a:solidFill>
            <a:srgbClr val="1622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"/>
          <p:cNvSpPr/>
          <p:nvPr/>
        </p:nvSpPr>
        <p:spPr>
          <a:xfrm>
            <a:off x="365760" y="4846320"/>
            <a:ext cx="73152" cy="7772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4"/>
          <p:cNvSpPr txBox="1"/>
          <p:nvPr/>
        </p:nvSpPr>
        <p:spPr>
          <a:xfrm>
            <a:off x="548640" y="491947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📉  Predicción de Churn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4"/>
          <p:cNvSpPr txBox="1"/>
          <p:nvPr/>
        </p:nvSpPr>
        <p:spPr>
          <a:xfrm>
            <a:off x="548640" y="52303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Ventana deslizante 30 días  ·  Score de riesgo  ·  Alertas automáticas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6217920" y="4846320"/>
            <a:ext cx="5394960" cy="777240"/>
          </a:xfrm>
          <a:prstGeom prst="rect">
            <a:avLst/>
          </a:prstGeom>
          <a:solidFill>
            <a:srgbClr val="1A1C2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6217920" y="4846320"/>
            <a:ext cx="73152" cy="7772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4"/>
          <p:cNvSpPr txBox="1"/>
          <p:nvPr/>
        </p:nvSpPr>
        <p:spPr>
          <a:xfrm>
            <a:off x="6400800" y="4919472"/>
            <a:ext cx="5029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📊  Dashboard Web Interactivo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4"/>
          <p:cNvSpPr txBox="1"/>
          <p:nvPr/>
        </p:nvSpPr>
        <p:spPr>
          <a:xfrm>
            <a:off x="6400800" y="5230368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HTML5 · CSS3 · JavaScript · Chart.js 4.4 · GitHub Pages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5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5"/>
          <p:cNvSpPr/>
          <p:nvPr/>
        </p:nvSpPr>
        <p:spPr>
          <a:xfrm>
            <a:off x="11430000" y="6492240"/>
            <a:ext cx="411480" cy="2286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5"/>
          <p:cNvSpPr txBox="1"/>
          <p:nvPr/>
        </p:nvSpPr>
        <p:spPr>
          <a:xfrm>
            <a:off x="1143000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5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  —  Pipeline NLP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5"/>
          <p:cNvSpPr/>
          <p:nvPr/>
        </p:nvSpPr>
        <p:spPr>
          <a:xfrm>
            <a:off x="548640" y="822960"/>
            <a:ext cx="274320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5"/>
          <p:cNvSpPr/>
          <p:nvPr/>
        </p:nvSpPr>
        <p:spPr>
          <a:xfrm>
            <a:off x="457200" y="1051560"/>
            <a:ext cx="2103120" cy="2560320"/>
          </a:xfrm>
          <a:prstGeom prst="rect">
            <a:avLst/>
          </a:prstGeom>
          <a:solidFill>
            <a:srgbClr val="0C233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5"/>
          <p:cNvSpPr/>
          <p:nvPr/>
        </p:nvSpPr>
        <p:spPr>
          <a:xfrm>
            <a:off x="457200" y="1051560"/>
            <a:ext cx="210312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5"/>
          <p:cNvSpPr/>
          <p:nvPr/>
        </p:nvSpPr>
        <p:spPr>
          <a:xfrm>
            <a:off x="1097280" y="1188720"/>
            <a:ext cx="822960" cy="6858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5"/>
          <p:cNvSpPr txBox="1"/>
          <p:nvPr/>
        </p:nvSpPr>
        <p:spPr>
          <a:xfrm>
            <a:off x="1097280" y="118872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5"/>
          <p:cNvSpPr txBox="1"/>
          <p:nvPr/>
        </p:nvSpPr>
        <p:spPr>
          <a:xfrm>
            <a:off x="502920" y="20116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Entrada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5"/>
          <p:cNvSpPr txBox="1"/>
          <p:nvPr/>
        </p:nvSpPr>
        <p:spPr>
          <a:xfrm>
            <a:off x="548640" y="24688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Texto crudo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ES / 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5"/>
          <p:cNvSpPr txBox="1"/>
          <p:nvPr/>
        </p:nvSpPr>
        <p:spPr>
          <a:xfrm>
            <a:off x="2560320" y="192024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5"/>
          <p:cNvSpPr/>
          <p:nvPr/>
        </p:nvSpPr>
        <p:spPr>
          <a:xfrm>
            <a:off x="2834640" y="1051560"/>
            <a:ext cx="2103120" cy="2560320"/>
          </a:xfrm>
          <a:prstGeom prst="rect">
            <a:avLst/>
          </a:prstGeom>
          <a:solidFill>
            <a:srgbClr val="1C163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5"/>
          <p:cNvSpPr/>
          <p:nvPr/>
        </p:nvSpPr>
        <p:spPr>
          <a:xfrm>
            <a:off x="2834640" y="1051560"/>
            <a:ext cx="2103120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5"/>
          <p:cNvSpPr/>
          <p:nvPr/>
        </p:nvSpPr>
        <p:spPr>
          <a:xfrm>
            <a:off x="3474720" y="1188720"/>
            <a:ext cx="822960" cy="68580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5"/>
          <p:cNvSpPr txBox="1"/>
          <p:nvPr/>
        </p:nvSpPr>
        <p:spPr>
          <a:xfrm>
            <a:off x="3474720" y="118872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5"/>
          <p:cNvSpPr txBox="1"/>
          <p:nvPr/>
        </p:nvSpPr>
        <p:spPr>
          <a:xfrm>
            <a:off x="2880360" y="20116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Limpieza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5"/>
          <p:cNvSpPr txBox="1"/>
          <p:nvPr/>
        </p:nvSpPr>
        <p:spPr>
          <a:xfrm>
            <a:off x="2926080" y="24688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Normalización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spaCy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5"/>
          <p:cNvSpPr txBox="1"/>
          <p:nvPr/>
        </p:nvSpPr>
        <p:spPr>
          <a:xfrm>
            <a:off x="4937760" y="192024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5"/>
          <p:cNvSpPr/>
          <p:nvPr/>
        </p:nvSpPr>
        <p:spPr>
          <a:xfrm>
            <a:off x="5212080" y="1051560"/>
            <a:ext cx="2103120" cy="2560320"/>
          </a:xfrm>
          <a:prstGeom prst="rect">
            <a:avLst/>
          </a:prstGeom>
          <a:solidFill>
            <a:srgbClr val="062A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5"/>
          <p:cNvSpPr/>
          <p:nvPr/>
        </p:nvSpPr>
        <p:spPr>
          <a:xfrm>
            <a:off x="5212080" y="1051560"/>
            <a:ext cx="21031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5"/>
          <p:cNvSpPr/>
          <p:nvPr/>
        </p:nvSpPr>
        <p:spPr>
          <a:xfrm>
            <a:off x="5852160" y="1188720"/>
            <a:ext cx="822960" cy="68580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5"/>
          <p:cNvSpPr txBox="1"/>
          <p:nvPr/>
        </p:nvSpPr>
        <p:spPr>
          <a:xfrm>
            <a:off x="5852160" y="118872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5"/>
          <p:cNvSpPr txBox="1"/>
          <p:nvPr/>
        </p:nvSpPr>
        <p:spPr>
          <a:xfrm>
            <a:off x="5257800" y="20116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Tokenización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5"/>
          <p:cNvSpPr txBox="1"/>
          <p:nvPr/>
        </p:nvSpPr>
        <p:spPr>
          <a:xfrm>
            <a:off x="5303520" y="24688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Tokens +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Lemas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5"/>
          <p:cNvSpPr txBox="1"/>
          <p:nvPr/>
        </p:nvSpPr>
        <p:spPr>
          <a:xfrm>
            <a:off x="7315200" y="192024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6" name="Google Shape;246;p5"/>
          <p:cNvSpPr/>
          <p:nvPr/>
        </p:nvSpPr>
        <p:spPr>
          <a:xfrm>
            <a:off x="7589520" y="1051560"/>
            <a:ext cx="2103120" cy="2560320"/>
          </a:xfrm>
          <a:prstGeom prst="rect">
            <a:avLst/>
          </a:prstGeom>
          <a:solidFill>
            <a:srgbClr val="2C1A0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5"/>
          <p:cNvSpPr/>
          <p:nvPr/>
        </p:nvSpPr>
        <p:spPr>
          <a:xfrm>
            <a:off x="7589520" y="1051560"/>
            <a:ext cx="2103120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5"/>
          <p:cNvSpPr/>
          <p:nvPr/>
        </p:nvSpPr>
        <p:spPr>
          <a:xfrm>
            <a:off x="8229600" y="1188720"/>
            <a:ext cx="822960" cy="68580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5"/>
          <p:cNvSpPr txBox="1"/>
          <p:nvPr/>
        </p:nvSpPr>
        <p:spPr>
          <a:xfrm>
            <a:off x="8229600" y="118872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5"/>
          <p:cNvSpPr txBox="1"/>
          <p:nvPr/>
        </p:nvSpPr>
        <p:spPr>
          <a:xfrm>
            <a:off x="7635240" y="20116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Clasificación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5"/>
          <p:cNvSpPr txBox="1"/>
          <p:nvPr/>
        </p:nvSpPr>
        <p:spPr>
          <a:xfrm>
            <a:off x="7680960" y="24688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Sentimiento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+ Intención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5"/>
          <p:cNvSpPr txBox="1"/>
          <p:nvPr/>
        </p:nvSpPr>
        <p:spPr>
          <a:xfrm>
            <a:off x="9692640" y="1920240"/>
            <a:ext cx="3200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5"/>
          <p:cNvSpPr/>
          <p:nvPr/>
        </p:nvSpPr>
        <p:spPr>
          <a:xfrm>
            <a:off x="9966960" y="1051560"/>
            <a:ext cx="2103120" cy="2560320"/>
          </a:xfrm>
          <a:prstGeom prst="rect">
            <a:avLst/>
          </a:prstGeom>
          <a:solidFill>
            <a:srgbClr val="2C08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9966960" y="1051560"/>
            <a:ext cx="2103120" cy="54864"/>
          </a:xfrm>
          <a:prstGeom prst="rect">
            <a:avLst/>
          </a:prstGeom>
          <a:solidFill>
            <a:srgbClr val="FB71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5"/>
          <p:cNvSpPr/>
          <p:nvPr/>
        </p:nvSpPr>
        <p:spPr>
          <a:xfrm>
            <a:off x="10607040" y="1188720"/>
            <a:ext cx="822960" cy="685800"/>
          </a:xfrm>
          <a:prstGeom prst="rect">
            <a:avLst/>
          </a:prstGeom>
          <a:solidFill>
            <a:srgbClr val="FB71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5"/>
          <p:cNvSpPr txBox="1"/>
          <p:nvPr/>
        </p:nvSpPr>
        <p:spPr>
          <a:xfrm>
            <a:off x="10607040" y="1188720"/>
            <a:ext cx="8229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5"/>
          <p:cNvSpPr txBox="1"/>
          <p:nvPr/>
        </p:nvSpPr>
        <p:spPr>
          <a:xfrm>
            <a:off x="10012680" y="201168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Predicción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5"/>
          <p:cNvSpPr txBox="1"/>
          <p:nvPr/>
        </p:nvSpPr>
        <p:spPr>
          <a:xfrm>
            <a:off x="10058400" y="2468880"/>
            <a:ext cx="19202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Frustración</a:t>
            </a:r>
            <a:b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+ Churn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5"/>
          <p:cNvSpPr/>
          <p:nvPr/>
        </p:nvSpPr>
        <p:spPr>
          <a:xfrm>
            <a:off x="457200" y="3840480"/>
            <a:ext cx="11247120" cy="2606040"/>
          </a:xfrm>
          <a:prstGeom prst="rect">
            <a:avLst/>
          </a:prstGeom>
          <a:solidFill>
            <a:srgbClr val="0D171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5"/>
          <p:cNvSpPr/>
          <p:nvPr/>
        </p:nvSpPr>
        <p:spPr>
          <a:xfrm>
            <a:off x="457200" y="3840480"/>
            <a:ext cx="1124712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5"/>
          <p:cNvSpPr txBox="1"/>
          <p:nvPr/>
        </p:nvSpPr>
        <p:spPr>
          <a:xfrm>
            <a:off x="685800" y="3913632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⌨  Ejemplo de uso — Python API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5"/>
          <p:cNvSpPr txBox="1"/>
          <p:nvPr/>
        </p:nvSpPr>
        <p:spPr>
          <a:xfrm>
            <a:off x="685800" y="4315968"/>
            <a:ext cx="1078992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from src.pipeline import ConversaAIPipeline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pipeline = ConversaAIPipeline(lang="es")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result   = pipeline.analyze("¡Llevo 3 días esperando y nadie me responde!")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# result → { "sentiment": "negative",  "confidence": 0.96,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  "intent": "complaint",    "frustration_score": 0.82,</a:t>
            </a:r>
            <a:b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0" i="0" lang="en-US" sz="1100" u="none" cap="none" strike="noStrike">
                <a:solidFill>
                  <a:srgbClr val="34D399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  "churn_risk": "high" }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6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11430000" y="6492240"/>
            <a:ext cx="411480" cy="2286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6"/>
          <p:cNvSpPr txBox="1"/>
          <p:nvPr/>
        </p:nvSpPr>
        <p:spPr>
          <a:xfrm>
            <a:off x="1143000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6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  —  Modelos NLP Implementados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548640" y="822960"/>
            <a:ext cx="4114800" cy="36576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6"/>
          <p:cNvSpPr/>
          <p:nvPr/>
        </p:nvSpPr>
        <p:spPr>
          <a:xfrm>
            <a:off x="365760" y="960120"/>
            <a:ext cx="11430000" cy="457200"/>
          </a:xfrm>
          <a:prstGeom prst="rect">
            <a:avLst/>
          </a:prstGeom>
          <a:solidFill>
            <a:srgbClr val="1E2A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6"/>
          <p:cNvSpPr txBox="1"/>
          <p:nvPr/>
        </p:nvSpPr>
        <p:spPr>
          <a:xfrm>
            <a:off x="365760" y="987552"/>
            <a:ext cx="17373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Modelo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6"/>
          <p:cNvSpPr txBox="1"/>
          <p:nvPr/>
        </p:nvSpPr>
        <p:spPr>
          <a:xfrm>
            <a:off x="2240280" y="98755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Arquitectura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6"/>
          <p:cNvSpPr txBox="1"/>
          <p:nvPr/>
        </p:nvSpPr>
        <p:spPr>
          <a:xfrm>
            <a:off x="3977639" y="987552"/>
            <a:ext cx="10058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Idioma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6"/>
          <p:cNvSpPr txBox="1"/>
          <p:nvPr/>
        </p:nvSpPr>
        <p:spPr>
          <a:xfrm>
            <a:off x="5074920" y="987552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Precisión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6"/>
          <p:cNvSpPr txBox="1"/>
          <p:nvPr/>
        </p:nvSpPr>
        <p:spPr>
          <a:xfrm>
            <a:off x="6263640" y="987552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F1-Score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6"/>
          <p:cNvSpPr txBox="1"/>
          <p:nvPr/>
        </p:nvSpPr>
        <p:spPr>
          <a:xfrm>
            <a:off x="7452360" y="987552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Latencia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6"/>
          <p:cNvSpPr txBox="1"/>
          <p:nvPr/>
        </p:nvSpPr>
        <p:spPr>
          <a:xfrm>
            <a:off x="8641080" y="987552"/>
            <a:ext cx="1645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Estado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6"/>
          <p:cNvSpPr/>
          <p:nvPr/>
        </p:nvSpPr>
        <p:spPr>
          <a:xfrm>
            <a:off x="365760" y="1508760"/>
            <a:ext cx="11430000" cy="1005840"/>
          </a:xfrm>
          <a:prstGeom prst="rect">
            <a:avLst/>
          </a:prstGeom>
          <a:solidFill>
            <a:srgbClr val="061F1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6"/>
          <p:cNvSpPr/>
          <p:nvPr/>
        </p:nvSpPr>
        <p:spPr>
          <a:xfrm>
            <a:off x="365760" y="1508760"/>
            <a:ext cx="54864" cy="100584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6"/>
          <p:cNvSpPr txBox="1"/>
          <p:nvPr/>
        </p:nvSpPr>
        <p:spPr>
          <a:xfrm>
            <a:off x="365760" y="17830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XLM-R Fine-tuned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6"/>
          <p:cNvSpPr txBox="1"/>
          <p:nvPr/>
        </p:nvSpPr>
        <p:spPr>
          <a:xfrm>
            <a:off x="2240280" y="1783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XLM-RoBERTa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6"/>
          <p:cNvSpPr txBox="1"/>
          <p:nvPr/>
        </p:nvSpPr>
        <p:spPr>
          <a:xfrm>
            <a:off x="3977639" y="17830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 + 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6"/>
          <p:cNvSpPr txBox="1"/>
          <p:nvPr/>
        </p:nvSpPr>
        <p:spPr>
          <a:xfrm>
            <a:off x="5074920" y="17830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97.2%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6"/>
          <p:cNvSpPr txBox="1"/>
          <p:nvPr/>
        </p:nvSpPr>
        <p:spPr>
          <a:xfrm>
            <a:off x="6263640" y="17830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0.971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6"/>
          <p:cNvSpPr txBox="1"/>
          <p:nvPr/>
        </p:nvSpPr>
        <p:spPr>
          <a:xfrm>
            <a:off x="7452360" y="17830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210ms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6"/>
          <p:cNvSpPr txBox="1"/>
          <p:nvPr/>
        </p:nvSpPr>
        <p:spPr>
          <a:xfrm>
            <a:off x="8641080" y="1783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⭐ MEJOR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9" name="Google Shape;289;p6"/>
          <p:cNvSpPr/>
          <p:nvPr/>
        </p:nvSpPr>
        <p:spPr>
          <a:xfrm>
            <a:off x="365760" y="2651760"/>
            <a:ext cx="11430000" cy="1005840"/>
          </a:xfrm>
          <a:prstGeom prst="rect">
            <a:avLst/>
          </a:prstGeom>
          <a:solidFill>
            <a:srgbClr val="0D18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6"/>
          <p:cNvSpPr/>
          <p:nvPr/>
        </p:nvSpPr>
        <p:spPr>
          <a:xfrm>
            <a:off x="365760" y="2651760"/>
            <a:ext cx="54864" cy="100584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6"/>
          <p:cNvSpPr txBox="1"/>
          <p:nvPr/>
        </p:nvSpPr>
        <p:spPr>
          <a:xfrm>
            <a:off x="365760" y="2926079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RoBERTuito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6"/>
          <p:cNvSpPr txBox="1"/>
          <p:nvPr/>
        </p:nvSpPr>
        <p:spPr>
          <a:xfrm>
            <a:off x="2240280" y="2926079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RoBERTa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6"/>
          <p:cNvSpPr txBox="1"/>
          <p:nvPr/>
        </p:nvSpPr>
        <p:spPr>
          <a:xfrm>
            <a:off x="3977639" y="2926079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🇪🇸 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6"/>
          <p:cNvSpPr txBox="1"/>
          <p:nvPr/>
        </p:nvSpPr>
        <p:spPr>
          <a:xfrm>
            <a:off x="5074920" y="2926079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94.1%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6"/>
          <p:cNvSpPr txBox="1"/>
          <p:nvPr/>
        </p:nvSpPr>
        <p:spPr>
          <a:xfrm>
            <a:off x="6263640" y="2926079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0.938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6"/>
          <p:cNvSpPr txBox="1"/>
          <p:nvPr/>
        </p:nvSpPr>
        <p:spPr>
          <a:xfrm>
            <a:off x="7452360" y="2926079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145ms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6"/>
          <p:cNvSpPr txBox="1"/>
          <p:nvPr/>
        </p:nvSpPr>
        <p:spPr>
          <a:xfrm>
            <a:off x="8641080" y="2926079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6"/>
          <p:cNvSpPr/>
          <p:nvPr/>
        </p:nvSpPr>
        <p:spPr>
          <a:xfrm>
            <a:off x="365760" y="3794760"/>
            <a:ext cx="11430000" cy="1005840"/>
          </a:xfrm>
          <a:prstGeom prst="rect">
            <a:avLst/>
          </a:prstGeom>
          <a:solidFill>
            <a:srgbClr val="14102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6"/>
          <p:cNvSpPr/>
          <p:nvPr/>
        </p:nvSpPr>
        <p:spPr>
          <a:xfrm>
            <a:off x="365760" y="3794760"/>
            <a:ext cx="54864" cy="100584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6"/>
          <p:cNvSpPr txBox="1"/>
          <p:nvPr/>
        </p:nvSpPr>
        <p:spPr>
          <a:xfrm>
            <a:off x="365760" y="40690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BERTimbau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6"/>
          <p:cNvSpPr txBox="1"/>
          <p:nvPr/>
        </p:nvSpPr>
        <p:spPr>
          <a:xfrm>
            <a:off x="2240280" y="4069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BERT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6"/>
          <p:cNvSpPr txBox="1"/>
          <p:nvPr/>
        </p:nvSpPr>
        <p:spPr>
          <a:xfrm>
            <a:off x="3977639" y="40690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🇧🇷 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6"/>
          <p:cNvSpPr txBox="1"/>
          <p:nvPr/>
        </p:nvSpPr>
        <p:spPr>
          <a:xfrm>
            <a:off x="5074920" y="40690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91.8%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6"/>
          <p:cNvSpPr txBox="1"/>
          <p:nvPr/>
        </p:nvSpPr>
        <p:spPr>
          <a:xfrm>
            <a:off x="6263640" y="40690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0.913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6"/>
          <p:cNvSpPr txBox="1"/>
          <p:nvPr/>
        </p:nvSpPr>
        <p:spPr>
          <a:xfrm>
            <a:off x="7452360" y="40690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160ms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6"/>
          <p:cNvSpPr txBox="1"/>
          <p:nvPr/>
        </p:nvSpPr>
        <p:spPr>
          <a:xfrm>
            <a:off x="8641080" y="4069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Producción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p6"/>
          <p:cNvSpPr/>
          <p:nvPr/>
        </p:nvSpPr>
        <p:spPr>
          <a:xfrm>
            <a:off x="365760" y="4937760"/>
            <a:ext cx="11430000" cy="1005840"/>
          </a:xfrm>
          <a:prstGeom prst="rect">
            <a:avLst/>
          </a:prstGeom>
          <a:solidFill>
            <a:srgbClr val="24160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6"/>
          <p:cNvSpPr/>
          <p:nvPr/>
        </p:nvSpPr>
        <p:spPr>
          <a:xfrm>
            <a:off x="365760" y="4937760"/>
            <a:ext cx="54864" cy="1005840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6"/>
          <p:cNvSpPr txBox="1"/>
          <p:nvPr/>
        </p:nvSpPr>
        <p:spPr>
          <a:xfrm>
            <a:off x="365760" y="5212080"/>
            <a:ext cx="17373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TF-IDF + SVM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6"/>
          <p:cNvSpPr txBox="1"/>
          <p:nvPr/>
        </p:nvSpPr>
        <p:spPr>
          <a:xfrm>
            <a:off x="2240280" y="5212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Clásico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1" name="Google Shape;311;p6"/>
          <p:cNvSpPr txBox="1"/>
          <p:nvPr/>
        </p:nvSpPr>
        <p:spPr>
          <a:xfrm>
            <a:off x="3977639" y="5212080"/>
            <a:ext cx="10058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ES + PT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6"/>
          <p:cNvSpPr txBox="1"/>
          <p:nvPr/>
        </p:nvSpPr>
        <p:spPr>
          <a:xfrm>
            <a:off x="5074920" y="52120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83.5%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6"/>
          <p:cNvSpPr txBox="1"/>
          <p:nvPr/>
        </p:nvSpPr>
        <p:spPr>
          <a:xfrm>
            <a:off x="6263640" y="52120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0.821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6"/>
          <p:cNvSpPr txBox="1"/>
          <p:nvPr/>
        </p:nvSpPr>
        <p:spPr>
          <a:xfrm>
            <a:off x="7452360" y="521208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10ms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6"/>
          <p:cNvSpPr txBox="1"/>
          <p:nvPr/>
        </p:nvSpPr>
        <p:spPr>
          <a:xfrm>
            <a:off x="8641080" y="521208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⚡ Rápido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6"/>
          <p:cNvSpPr txBox="1"/>
          <p:nvPr/>
        </p:nvSpPr>
        <p:spPr>
          <a:xfrm>
            <a:off x="457200" y="6126480"/>
            <a:ext cx="11247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💡  XLM-R ofrece máxima precisión para producción  ·  TF-IDF ideal para entornos con recursos limitados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7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FB71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7"/>
          <p:cNvSpPr/>
          <p:nvPr/>
        </p:nvSpPr>
        <p:spPr>
          <a:xfrm>
            <a:off x="11430000" y="6492240"/>
            <a:ext cx="411480" cy="2286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7"/>
          <p:cNvSpPr txBox="1"/>
          <p:nvPr/>
        </p:nvSpPr>
        <p:spPr>
          <a:xfrm>
            <a:off x="1143000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7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  —  Dashboard Interactivo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7"/>
          <p:cNvSpPr/>
          <p:nvPr/>
        </p:nvSpPr>
        <p:spPr>
          <a:xfrm>
            <a:off x="548640" y="822960"/>
            <a:ext cx="3657600" cy="36576"/>
          </a:xfrm>
          <a:prstGeom prst="rect">
            <a:avLst/>
          </a:prstGeom>
          <a:solidFill>
            <a:srgbClr val="FB71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7"/>
          <p:cNvSpPr/>
          <p:nvPr/>
        </p:nvSpPr>
        <p:spPr>
          <a:xfrm>
            <a:off x="365760" y="1005840"/>
            <a:ext cx="2743200" cy="521208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7"/>
          <p:cNvSpPr/>
          <p:nvPr/>
        </p:nvSpPr>
        <p:spPr>
          <a:xfrm>
            <a:off x="365760" y="1005840"/>
            <a:ext cx="2743200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7"/>
          <p:cNvSpPr txBox="1"/>
          <p:nvPr/>
        </p:nvSpPr>
        <p:spPr>
          <a:xfrm>
            <a:off x="1188720" y="114300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7"/>
          <p:cNvSpPr txBox="1"/>
          <p:nvPr/>
        </p:nvSpPr>
        <p:spPr>
          <a:xfrm>
            <a:off x="457200" y="1874519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Resumen General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7"/>
          <p:cNvSpPr/>
          <p:nvPr/>
        </p:nvSpPr>
        <p:spPr>
          <a:xfrm>
            <a:off x="822960" y="2395728"/>
            <a:ext cx="182880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7"/>
          <p:cNvSpPr txBox="1"/>
          <p:nvPr/>
        </p:nvSpPr>
        <p:spPr>
          <a:xfrm>
            <a:off x="548640" y="25603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4 KPI Cards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7"/>
          <p:cNvSpPr txBox="1"/>
          <p:nvPr/>
        </p:nvSpPr>
        <p:spPr>
          <a:xfrm>
            <a:off x="548640" y="310896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Distribución de sentimiento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7"/>
          <p:cNvSpPr txBox="1"/>
          <p:nvPr/>
        </p:nvSpPr>
        <p:spPr>
          <a:xfrm>
            <a:off x="548640" y="36576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Distribución de intenciones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7"/>
          <p:cNvSpPr txBox="1"/>
          <p:nvPr/>
        </p:nvSpPr>
        <p:spPr>
          <a:xfrm>
            <a:off x="548640" y="4206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Serie temporal 30 días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7"/>
          <p:cNvSpPr/>
          <p:nvPr/>
        </p:nvSpPr>
        <p:spPr>
          <a:xfrm>
            <a:off x="3310128" y="1005840"/>
            <a:ext cx="2743200" cy="521208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7"/>
          <p:cNvSpPr/>
          <p:nvPr/>
        </p:nvSpPr>
        <p:spPr>
          <a:xfrm>
            <a:off x="3310128" y="1005840"/>
            <a:ext cx="2743200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7"/>
          <p:cNvSpPr txBox="1"/>
          <p:nvPr/>
        </p:nvSpPr>
        <p:spPr>
          <a:xfrm>
            <a:off x="4133088" y="114300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🧪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7"/>
          <p:cNvSpPr txBox="1"/>
          <p:nvPr/>
        </p:nvSpPr>
        <p:spPr>
          <a:xfrm>
            <a:off x="3401568" y="1874519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Comparativa Modelos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7"/>
          <p:cNvSpPr/>
          <p:nvPr/>
        </p:nvSpPr>
        <p:spPr>
          <a:xfrm>
            <a:off x="3767328" y="2395728"/>
            <a:ext cx="182880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7"/>
          <p:cNvSpPr txBox="1"/>
          <p:nvPr/>
        </p:nvSpPr>
        <p:spPr>
          <a:xfrm>
            <a:off x="3493008" y="25603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Tabla de métricas completa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7"/>
          <p:cNvSpPr txBox="1"/>
          <p:nvPr/>
        </p:nvSpPr>
        <p:spPr>
          <a:xfrm>
            <a:off x="3493008" y="310896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Gráfico de precisión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7"/>
          <p:cNvSpPr txBox="1"/>
          <p:nvPr/>
        </p:nvSpPr>
        <p:spPr>
          <a:xfrm>
            <a:off x="3493008" y="36576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Gráfico de latencia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3" name="Google Shape;343;p7"/>
          <p:cNvSpPr txBox="1"/>
          <p:nvPr/>
        </p:nvSpPr>
        <p:spPr>
          <a:xfrm>
            <a:off x="3493008" y="4206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Radar multidimensional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4" name="Google Shape;344;p7"/>
          <p:cNvSpPr/>
          <p:nvPr/>
        </p:nvSpPr>
        <p:spPr>
          <a:xfrm>
            <a:off x="6254496" y="1005840"/>
            <a:ext cx="2743200" cy="521208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7"/>
          <p:cNvSpPr/>
          <p:nvPr/>
        </p:nvSpPr>
        <p:spPr>
          <a:xfrm>
            <a:off x="6254496" y="1005840"/>
            <a:ext cx="2743200" cy="54864"/>
          </a:xfrm>
          <a:prstGeom prst="rect">
            <a:avLst/>
          </a:prstGeom>
          <a:solidFill>
            <a:srgbClr val="FB71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7"/>
          <p:cNvSpPr txBox="1"/>
          <p:nvPr/>
        </p:nvSpPr>
        <p:spPr>
          <a:xfrm>
            <a:off x="7077456" y="114300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😤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7"/>
          <p:cNvSpPr txBox="1"/>
          <p:nvPr/>
        </p:nvSpPr>
        <p:spPr>
          <a:xfrm>
            <a:off x="6345936" y="1874519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Análisis Frustración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7"/>
          <p:cNvSpPr/>
          <p:nvPr/>
        </p:nvSpPr>
        <p:spPr>
          <a:xfrm>
            <a:off x="6711696" y="2395728"/>
            <a:ext cx="1828800" cy="36576"/>
          </a:xfrm>
          <a:prstGeom prst="rect">
            <a:avLst/>
          </a:prstGeom>
          <a:solidFill>
            <a:srgbClr val="FB71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7"/>
          <p:cNvSpPr txBox="1"/>
          <p:nvPr/>
        </p:nvSpPr>
        <p:spPr>
          <a:xfrm>
            <a:off x="6437376" y="25603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KPIs de churn (crítico/alto/bajo)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7"/>
          <p:cNvSpPr txBox="1"/>
          <p:nvPr/>
        </p:nvSpPr>
        <p:spPr>
          <a:xfrm>
            <a:off x="6437376" y="310896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Distribución de riesgo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7"/>
          <p:cNvSpPr txBox="1"/>
          <p:nvPr/>
        </p:nvSpPr>
        <p:spPr>
          <a:xfrm>
            <a:off x="6437376" y="36576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Frustración por intención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7"/>
          <p:cNvSpPr txBox="1"/>
          <p:nvPr/>
        </p:nvSpPr>
        <p:spPr>
          <a:xfrm>
            <a:off x="6437376" y="4206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Evolución temporal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7"/>
          <p:cNvSpPr/>
          <p:nvPr/>
        </p:nvSpPr>
        <p:spPr>
          <a:xfrm>
            <a:off x="9198864" y="1005840"/>
            <a:ext cx="2743200" cy="521208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7"/>
          <p:cNvSpPr/>
          <p:nvPr/>
        </p:nvSpPr>
        <p:spPr>
          <a:xfrm>
            <a:off x="9198864" y="1005840"/>
            <a:ext cx="2743200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7"/>
          <p:cNvSpPr txBox="1"/>
          <p:nvPr/>
        </p:nvSpPr>
        <p:spPr>
          <a:xfrm>
            <a:off x="10021824" y="1143000"/>
            <a:ext cx="10972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💡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7"/>
          <p:cNvSpPr txBox="1"/>
          <p:nvPr/>
        </p:nvSpPr>
        <p:spPr>
          <a:xfrm>
            <a:off x="9290304" y="1874519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Recomendaciones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7"/>
          <p:cNvSpPr/>
          <p:nvPr/>
        </p:nvSpPr>
        <p:spPr>
          <a:xfrm>
            <a:off x="9656064" y="2395728"/>
            <a:ext cx="182880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7"/>
          <p:cNvSpPr txBox="1"/>
          <p:nvPr/>
        </p:nvSpPr>
        <p:spPr>
          <a:xfrm>
            <a:off x="9381744" y="256032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Acciones priorizadas por 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7"/>
          <p:cNvSpPr txBox="1"/>
          <p:nvPr/>
        </p:nvSpPr>
        <p:spPr>
          <a:xfrm>
            <a:off x="9381744" y="310896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Configuración de modelos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7"/>
          <p:cNvSpPr txBox="1"/>
          <p:nvPr/>
        </p:nvSpPr>
        <p:spPr>
          <a:xfrm>
            <a:off x="9381744" y="365760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Exportación 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7"/>
          <p:cNvSpPr txBox="1"/>
          <p:nvPr/>
        </p:nvSpPr>
        <p:spPr>
          <a:xfrm>
            <a:off x="9381744" y="4206240"/>
            <a:ext cx="23774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▸  Alertas de churn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7"/>
          <p:cNvSpPr/>
          <p:nvPr/>
        </p:nvSpPr>
        <p:spPr>
          <a:xfrm>
            <a:off x="457200" y="6400800"/>
            <a:ext cx="2103120" cy="320040"/>
          </a:xfrm>
          <a:prstGeom prst="rect">
            <a:avLst/>
          </a:prstGeom>
          <a:solidFill>
            <a:srgbClr val="1E2A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7"/>
          <p:cNvSpPr/>
          <p:nvPr/>
        </p:nvSpPr>
        <p:spPr>
          <a:xfrm>
            <a:off x="457200" y="6400800"/>
            <a:ext cx="2103120" cy="32004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7"/>
          <p:cNvSpPr txBox="1"/>
          <p:nvPr/>
        </p:nvSpPr>
        <p:spPr>
          <a:xfrm>
            <a:off x="457200" y="6400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🌙 Modo Oscuro/Claro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7"/>
          <p:cNvSpPr/>
          <p:nvPr/>
        </p:nvSpPr>
        <p:spPr>
          <a:xfrm>
            <a:off x="2651760" y="6400800"/>
            <a:ext cx="2103120" cy="320040"/>
          </a:xfrm>
          <a:prstGeom prst="rect">
            <a:avLst/>
          </a:prstGeom>
          <a:solidFill>
            <a:srgbClr val="1E2A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7"/>
          <p:cNvSpPr/>
          <p:nvPr/>
        </p:nvSpPr>
        <p:spPr>
          <a:xfrm>
            <a:off x="2651760" y="6400800"/>
            <a:ext cx="2103120" cy="32004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7"/>
          <p:cNvSpPr txBox="1"/>
          <p:nvPr/>
        </p:nvSpPr>
        <p:spPr>
          <a:xfrm>
            <a:off x="2651760" y="6400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🔍 Filtros en tiempo real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7"/>
          <p:cNvSpPr/>
          <p:nvPr/>
        </p:nvSpPr>
        <p:spPr>
          <a:xfrm>
            <a:off x="4846320" y="6400800"/>
            <a:ext cx="2103120" cy="320040"/>
          </a:xfrm>
          <a:prstGeom prst="rect">
            <a:avLst/>
          </a:prstGeom>
          <a:solidFill>
            <a:srgbClr val="1E2A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7"/>
          <p:cNvSpPr/>
          <p:nvPr/>
        </p:nvSpPr>
        <p:spPr>
          <a:xfrm>
            <a:off x="4846320" y="6400800"/>
            <a:ext cx="2103120" cy="3200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7"/>
          <p:cNvSpPr txBox="1"/>
          <p:nvPr/>
        </p:nvSpPr>
        <p:spPr>
          <a:xfrm>
            <a:off x="4846320" y="6400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📥 Exportar CSV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7"/>
          <p:cNvSpPr/>
          <p:nvPr/>
        </p:nvSpPr>
        <p:spPr>
          <a:xfrm>
            <a:off x="7040879" y="6400800"/>
            <a:ext cx="2103120" cy="320040"/>
          </a:xfrm>
          <a:prstGeom prst="rect">
            <a:avLst/>
          </a:prstGeom>
          <a:solidFill>
            <a:srgbClr val="1E2A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7"/>
          <p:cNvSpPr/>
          <p:nvPr/>
        </p:nvSpPr>
        <p:spPr>
          <a:xfrm>
            <a:off x="7040879" y="6400800"/>
            <a:ext cx="2103120" cy="32004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7"/>
          <p:cNvSpPr txBox="1"/>
          <p:nvPr/>
        </p:nvSpPr>
        <p:spPr>
          <a:xfrm>
            <a:off x="7040879" y="6400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📱 Responsive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7"/>
          <p:cNvSpPr/>
          <p:nvPr/>
        </p:nvSpPr>
        <p:spPr>
          <a:xfrm>
            <a:off x="9235440" y="6400800"/>
            <a:ext cx="2103120" cy="320040"/>
          </a:xfrm>
          <a:prstGeom prst="rect">
            <a:avLst/>
          </a:prstGeom>
          <a:solidFill>
            <a:srgbClr val="1E2A3E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7"/>
          <p:cNvSpPr/>
          <p:nvPr/>
        </p:nvSpPr>
        <p:spPr>
          <a:xfrm>
            <a:off x="9235440" y="6400800"/>
            <a:ext cx="2103120" cy="32004"/>
          </a:xfrm>
          <a:prstGeom prst="rect">
            <a:avLst/>
          </a:prstGeom>
          <a:solidFill>
            <a:srgbClr val="FB718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7"/>
          <p:cNvSpPr txBox="1"/>
          <p:nvPr/>
        </p:nvSpPr>
        <p:spPr>
          <a:xfrm>
            <a:off x="9235440" y="6400800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FB7185"/>
                </a:solidFill>
                <a:latin typeface="Calibri"/>
                <a:ea typeface="Calibri"/>
                <a:cs typeface="Calibri"/>
                <a:sym typeface="Calibri"/>
              </a:rPr>
              <a:t>♿ Accesible (ARIA)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9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9"/>
          <p:cNvSpPr/>
          <p:nvPr/>
        </p:nvSpPr>
        <p:spPr>
          <a:xfrm>
            <a:off x="11430000" y="6492240"/>
            <a:ext cx="411480" cy="2286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9"/>
          <p:cNvSpPr txBox="1"/>
          <p:nvPr/>
        </p:nvSpPr>
        <p:spPr>
          <a:xfrm>
            <a:off x="1143000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9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07  —  Stack Tecnológico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9"/>
          <p:cNvSpPr/>
          <p:nvPr/>
        </p:nvSpPr>
        <p:spPr>
          <a:xfrm>
            <a:off x="548640" y="822960"/>
            <a:ext cx="320040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9"/>
          <p:cNvSpPr/>
          <p:nvPr/>
        </p:nvSpPr>
        <p:spPr>
          <a:xfrm>
            <a:off x="365760" y="1005840"/>
            <a:ext cx="3749039" cy="557784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9"/>
          <p:cNvSpPr/>
          <p:nvPr/>
        </p:nvSpPr>
        <p:spPr>
          <a:xfrm>
            <a:off x="365760" y="1005840"/>
            <a:ext cx="3749039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"/>
          <p:cNvSpPr txBox="1"/>
          <p:nvPr/>
        </p:nvSpPr>
        <p:spPr>
          <a:xfrm>
            <a:off x="502920" y="1078992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🧠  NLP &amp; ML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9"/>
          <p:cNvSpPr/>
          <p:nvPr/>
        </p:nvSpPr>
        <p:spPr>
          <a:xfrm>
            <a:off x="502920" y="1536192"/>
            <a:ext cx="3474720" cy="36576"/>
          </a:xfrm>
          <a:prstGeom prst="rect">
            <a:avLst/>
          </a:prstGeom>
          <a:solidFill>
            <a:srgbClr val="2A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9"/>
          <p:cNvSpPr txBox="1"/>
          <p:nvPr/>
        </p:nvSpPr>
        <p:spPr>
          <a:xfrm>
            <a:off x="548640" y="169164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Python 3.8+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9"/>
          <p:cNvSpPr txBox="1"/>
          <p:nvPr/>
        </p:nvSpPr>
        <p:spPr>
          <a:xfrm>
            <a:off x="548640" y="20116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Lenguaje principal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9"/>
          <p:cNvSpPr txBox="1"/>
          <p:nvPr/>
        </p:nvSpPr>
        <p:spPr>
          <a:xfrm>
            <a:off x="548640" y="25603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HuggingFace Transformers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9"/>
          <p:cNvSpPr txBox="1"/>
          <p:nvPr/>
        </p:nvSpPr>
        <p:spPr>
          <a:xfrm>
            <a:off x="548640" y="28803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Modelos pre-entrenados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9"/>
          <p:cNvSpPr txBox="1"/>
          <p:nvPr/>
        </p:nvSpPr>
        <p:spPr>
          <a:xfrm>
            <a:off x="548640" y="34290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spaCy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9"/>
          <p:cNvSpPr txBox="1"/>
          <p:nvPr/>
        </p:nvSpPr>
        <p:spPr>
          <a:xfrm>
            <a:off x="548640" y="3749039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Preprocesamiento NLP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9"/>
          <p:cNvSpPr txBox="1"/>
          <p:nvPr/>
        </p:nvSpPr>
        <p:spPr>
          <a:xfrm>
            <a:off x="548640" y="429768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PyTorch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9"/>
          <p:cNvSpPr txBox="1"/>
          <p:nvPr/>
        </p:nvSpPr>
        <p:spPr>
          <a:xfrm>
            <a:off x="548640" y="46177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Motor de inferencia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9"/>
          <p:cNvSpPr txBox="1"/>
          <p:nvPr/>
        </p:nvSpPr>
        <p:spPr>
          <a:xfrm>
            <a:off x="548640" y="516636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scikit-learn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9"/>
          <p:cNvSpPr txBox="1"/>
          <p:nvPr/>
        </p:nvSpPr>
        <p:spPr>
          <a:xfrm>
            <a:off x="548640" y="5486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TF-IDF + SVM baseline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9"/>
          <p:cNvSpPr/>
          <p:nvPr/>
        </p:nvSpPr>
        <p:spPr>
          <a:xfrm>
            <a:off x="4343400" y="1005840"/>
            <a:ext cx="3749039" cy="557784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9"/>
          <p:cNvSpPr/>
          <p:nvPr/>
        </p:nvSpPr>
        <p:spPr>
          <a:xfrm>
            <a:off x="4343400" y="1005840"/>
            <a:ext cx="3749039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9"/>
          <p:cNvSpPr txBox="1"/>
          <p:nvPr/>
        </p:nvSpPr>
        <p:spPr>
          <a:xfrm>
            <a:off x="4480560" y="1078992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📊  Dashboard Web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9"/>
          <p:cNvSpPr/>
          <p:nvPr/>
        </p:nvSpPr>
        <p:spPr>
          <a:xfrm>
            <a:off x="4480560" y="1536192"/>
            <a:ext cx="3474720" cy="36576"/>
          </a:xfrm>
          <a:prstGeom prst="rect">
            <a:avLst/>
          </a:prstGeom>
          <a:solidFill>
            <a:srgbClr val="2A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9"/>
          <p:cNvSpPr txBox="1"/>
          <p:nvPr/>
        </p:nvSpPr>
        <p:spPr>
          <a:xfrm>
            <a:off x="4526280" y="169164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HTML5 / CSS3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9"/>
          <p:cNvSpPr txBox="1"/>
          <p:nvPr/>
        </p:nvSpPr>
        <p:spPr>
          <a:xfrm>
            <a:off x="4526280" y="20116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Estructura y estilos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9"/>
          <p:cNvSpPr txBox="1"/>
          <p:nvPr/>
        </p:nvSpPr>
        <p:spPr>
          <a:xfrm>
            <a:off x="4526280" y="25603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JavaScript ES6+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9"/>
          <p:cNvSpPr txBox="1"/>
          <p:nvPr/>
        </p:nvSpPr>
        <p:spPr>
          <a:xfrm>
            <a:off x="4526280" y="28803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Lógica de aplicación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9"/>
          <p:cNvSpPr txBox="1"/>
          <p:nvPr/>
        </p:nvSpPr>
        <p:spPr>
          <a:xfrm>
            <a:off x="4526280" y="34290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Chart.js 4.4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9"/>
          <p:cNvSpPr txBox="1"/>
          <p:nvPr/>
        </p:nvSpPr>
        <p:spPr>
          <a:xfrm>
            <a:off x="4526280" y="3749039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Visualizaciones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9"/>
          <p:cNvSpPr txBox="1"/>
          <p:nvPr/>
        </p:nvSpPr>
        <p:spPr>
          <a:xfrm>
            <a:off x="4526280" y="429768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Font Awesome 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9"/>
          <p:cNvSpPr txBox="1"/>
          <p:nvPr/>
        </p:nvSpPr>
        <p:spPr>
          <a:xfrm>
            <a:off x="4526280" y="46177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Iconografía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9"/>
          <p:cNvSpPr txBox="1"/>
          <p:nvPr/>
        </p:nvSpPr>
        <p:spPr>
          <a:xfrm>
            <a:off x="4526280" y="516636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Fonts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9"/>
          <p:cNvSpPr txBox="1"/>
          <p:nvPr/>
        </p:nvSpPr>
        <p:spPr>
          <a:xfrm>
            <a:off x="4526280" y="5486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Tipografía (Inter)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9"/>
          <p:cNvSpPr/>
          <p:nvPr/>
        </p:nvSpPr>
        <p:spPr>
          <a:xfrm>
            <a:off x="8321040" y="1005840"/>
            <a:ext cx="3749039" cy="557784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9"/>
          <p:cNvSpPr/>
          <p:nvPr/>
        </p:nvSpPr>
        <p:spPr>
          <a:xfrm>
            <a:off x="8321040" y="1005840"/>
            <a:ext cx="3749039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9"/>
          <p:cNvSpPr txBox="1"/>
          <p:nvPr/>
        </p:nvSpPr>
        <p:spPr>
          <a:xfrm>
            <a:off x="8458200" y="1078992"/>
            <a:ext cx="34747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🔧  Infraestructura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9"/>
          <p:cNvSpPr/>
          <p:nvPr/>
        </p:nvSpPr>
        <p:spPr>
          <a:xfrm>
            <a:off x="8458200" y="1536192"/>
            <a:ext cx="3474720" cy="36576"/>
          </a:xfrm>
          <a:prstGeom prst="rect">
            <a:avLst/>
          </a:prstGeom>
          <a:solidFill>
            <a:srgbClr val="2A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9"/>
          <p:cNvSpPr txBox="1"/>
          <p:nvPr/>
        </p:nvSpPr>
        <p:spPr>
          <a:xfrm>
            <a:off x="8503919" y="169164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Pages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9"/>
          <p:cNvSpPr txBox="1"/>
          <p:nvPr/>
        </p:nvSpPr>
        <p:spPr>
          <a:xfrm>
            <a:off x="8503919" y="201168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Hosting del dashboard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9"/>
          <p:cNvSpPr txBox="1"/>
          <p:nvPr/>
        </p:nvSpPr>
        <p:spPr>
          <a:xfrm>
            <a:off x="8503919" y="256032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9"/>
          <p:cNvSpPr txBox="1"/>
          <p:nvPr/>
        </p:nvSpPr>
        <p:spPr>
          <a:xfrm>
            <a:off x="8503919" y="288036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CI/CD automático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9"/>
          <p:cNvSpPr txBox="1"/>
          <p:nvPr/>
        </p:nvSpPr>
        <p:spPr>
          <a:xfrm>
            <a:off x="8503919" y="342900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9"/>
          <p:cNvSpPr txBox="1"/>
          <p:nvPr/>
        </p:nvSpPr>
        <p:spPr>
          <a:xfrm>
            <a:off x="8503919" y="3749039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Control de versiones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9"/>
          <p:cNvSpPr txBox="1"/>
          <p:nvPr/>
        </p:nvSpPr>
        <p:spPr>
          <a:xfrm>
            <a:off x="8503919" y="429768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pytest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9"/>
          <p:cNvSpPr txBox="1"/>
          <p:nvPr/>
        </p:nvSpPr>
        <p:spPr>
          <a:xfrm>
            <a:off x="8503919" y="46177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Suite de tests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9"/>
          <p:cNvSpPr txBox="1"/>
          <p:nvPr/>
        </p:nvSpPr>
        <p:spPr>
          <a:xfrm>
            <a:off x="8503919" y="5166360"/>
            <a:ext cx="3383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Streamlit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9"/>
          <p:cNvSpPr txBox="1"/>
          <p:nvPr/>
        </p:nvSpPr>
        <p:spPr>
          <a:xfrm>
            <a:off x="8503919" y="548640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Dashboard Python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rgbClr val="0D1117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1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0"/>
          <p:cNvSpPr/>
          <p:nvPr/>
        </p:nvSpPr>
        <p:spPr>
          <a:xfrm>
            <a:off x="11430000" y="6492240"/>
            <a:ext cx="411480" cy="2286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0"/>
          <p:cNvSpPr txBox="1"/>
          <p:nvPr/>
        </p:nvSpPr>
        <p:spPr>
          <a:xfrm>
            <a:off x="11430000" y="6473952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10"/>
          <p:cNvSpPr txBox="1"/>
          <p:nvPr/>
        </p:nvSpPr>
        <p:spPr>
          <a:xfrm>
            <a:off x="548640" y="182880"/>
            <a:ext cx="109728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08  —  Próximos Pasos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10"/>
          <p:cNvSpPr/>
          <p:nvPr/>
        </p:nvSpPr>
        <p:spPr>
          <a:xfrm>
            <a:off x="548640" y="822960"/>
            <a:ext cx="320040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0"/>
          <p:cNvSpPr/>
          <p:nvPr/>
        </p:nvSpPr>
        <p:spPr>
          <a:xfrm>
            <a:off x="365760" y="1005840"/>
            <a:ext cx="3749039" cy="562356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0"/>
          <p:cNvSpPr/>
          <p:nvPr/>
        </p:nvSpPr>
        <p:spPr>
          <a:xfrm>
            <a:off x="365760" y="1005840"/>
            <a:ext cx="3749039" cy="54864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0"/>
          <p:cNvSpPr/>
          <p:nvPr/>
        </p:nvSpPr>
        <p:spPr>
          <a:xfrm>
            <a:off x="502920" y="1097280"/>
            <a:ext cx="1097280" cy="384048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0"/>
          <p:cNvSpPr txBox="1"/>
          <p:nvPr/>
        </p:nvSpPr>
        <p:spPr>
          <a:xfrm>
            <a:off x="502920" y="109728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Q3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0"/>
          <p:cNvSpPr txBox="1"/>
          <p:nvPr/>
        </p:nvSpPr>
        <p:spPr>
          <a:xfrm>
            <a:off x="1737360" y="11430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Corto Plazo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0"/>
          <p:cNvSpPr/>
          <p:nvPr/>
        </p:nvSpPr>
        <p:spPr>
          <a:xfrm>
            <a:off x="502920" y="1554480"/>
            <a:ext cx="3474720" cy="36576"/>
          </a:xfrm>
          <a:prstGeom prst="rect">
            <a:avLst/>
          </a:prstGeom>
          <a:solidFill>
            <a:srgbClr val="2A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10"/>
          <p:cNvSpPr txBox="1"/>
          <p:nvPr/>
        </p:nvSpPr>
        <p:spPr>
          <a:xfrm>
            <a:off x="548640" y="1719072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🔗  Integración con CRM (Salesforce / HubSpot)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10"/>
          <p:cNvSpPr txBox="1"/>
          <p:nvPr/>
        </p:nvSpPr>
        <p:spPr>
          <a:xfrm>
            <a:off x="548640" y="2615184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📡  API REST con FastAPI para consumo externo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0"/>
          <p:cNvSpPr txBox="1"/>
          <p:nvPr/>
        </p:nvSpPr>
        <p:spPr>
          <a:xfrm>
            <a:off x="548640" y="3511296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🔔  Alertas automáticas vía Slack / Email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0"/>
          <p:cNvSpPr txBox="1"/>
          <p:nvPr/>
        </p:nvSpPr>
        <p:spPr>
          <a:xfrm>
            <a:off x="548640" y="4407408"/>
            <a:ext cx="338328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🌍  Soporte para inglés</a:t>
            </a:r>
            <a:endParaRPr b="0" i="0" sz="1200" u="none" cap="none" strike="noStrike">
              <a:solidFill>
                <a:srgbClr val="D1D5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0"/>
          <p:cNvSpPr/>
          <p:nvPr/>
        </p:nvSpPr>
        <p:spPr>
          <a:xfrm>
            <a:off x="4343400" y="1005840"/>
            <a:ext cx="3749039" cy="562356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0"/>
          <p:cNvSpPr/>
          <p:nvPr/>
        </p:nvSpPr>
        <p:spPr>
          <a:xfrm>
            <a:off x="4343400" y="1005840"/>
            <a:ext cx="3749039" cy="54864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0"/>
          <p:cNvSpPr/>
          <p:nvPr/>
        </p:nvSpPr>
        <p:spPr>
          <a:xfrm>
            <a:off x="4480560" y="1097280"/>
            <a:ext cx="1097280" cy="384048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0"/>
          <p:cNvSpPr txBox="1"/>
          <p:nvPr/>
        </p:nvSpPr>
        <p:spPr>
          <a:xfrm>
            <a:off x="4480560" y="109728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Q4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0"/>
          <p:cNvSpPr txBox="1"/>
          <p:nvPr/>
        </p:nvSpPr>
        <p:spPr>
          <a:xfrm>
            <a:off x="5715000" y="11430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Mediano Plazo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0"/>
          <p:cNvSpPr/>
          <p:nvPr/>
        </p:nvSpPr>
        <p:spPr>
          <a:xfrm>
            <a:off x="4480560" y="1554480"/>
            <a:ext cx="3474720" cy="36576"/>
          </a:xfrm>
          <a:prstGeom prst="rect">
            <a:avLst/>
          </a:prstGeom>
          <a:solidFill>
            <a:srgbClr val="2A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0"/>
          <p:cNvSpPr txBox="1"/>
          <p:nvPr/>
        </p:nvSpPr>
        <p:spPr>
          <a:xfrm>
            <a:off x="4526280" y="1719072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🧬  Fine-tuning con datos propios del cliente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4" name="Google Shape;454;p10"/>
          <p:cNvSpPr txBox="1"/>
          <p:nvPr/>
        </p:nvSpPr>
        <p:spPr>
          <a:xfrm>
            <a:off x="4526280" y="2615184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📊  Dashboard multi-tenant con autenticación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0"/>
          <p:cNvSpPr txBox="1"/>
          <p:nvPr/>
        </p:nvSpPr>
        <p:spPr>
          <a:xfrm>
            <a:off x="4526280" y="3511296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🤝  Modelo de respuesta sugerida automática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0"/>
          <p:cNvSpPr txBox="1"/>
          <p:nvPr/>
        </p:nvSpPr>
        <p:spPr>
          <a:xfrm>
            <a:off x="4526280" y="4407408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📱  App móvil nativa (iOS / Android)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0"/>
          <p:cNvSpPr/>
          <p:nvPr/>
        </p:nvSpPr>
        <p:spPr>
          <a:xfrm>
            <a:off x="8321040" y="1005840"/>
            <a:ext cx="3749039" cy="562356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0"/>
          <p:cNvSpPr/>
          <p:nvPr/>
        </p:nvSpPr>
        <p:spPr>
          <a:xfrm>
            <a:off x="8321040" y="1005840"/>
            <a:ext cx="3749039" cy="54864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10"/>
          <p:cNvSpPr/>
          <p:nvPr/>
        </p:nvSpPr>
        <p:spPr>
          <a:xfrm>
            <a:off x="8458200" y="1097280"/>
            <a:ext cx="1097280" cy="384048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10"/>
          <p:cNvSpPr txBox="1"/>
          <p:nvPr/>
        </p:nvSpPr>
        <p:spPr>
          <a:xfrm>
            <a:off x="8458200" y="1097280"/>
            <a:ext cx="10972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D1117"/>
                </a:solidFill>
                <a:latin typeface="Calibri"/>
                <a:ea typeface="Calibri"/>
                <a:cs typeface="Calibri"/>
                <a:sym typeface="Calibri"/>
              </a:rPr>
              <a:t>2027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0"/>
          <p:cNvSpPr txBox="1"/>
          <p:nvPr/>
        </p:nvSpPr>
        <p:spPr>
          <a:xfrm>
            <a:off x="9692640" y="1143000"/>
            <a:ext cx="22860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Largo Plazo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0"/>
          <p:cNvSpPr/>
          <p:nvPr/>
        </p:nvSpPr>
        <p:spPr>
          <a:xfrm>
            <a:off x="8458200" y="1554480"/>
            <a:ext cx="3474720" cy="36576"/>
          </a:xfrm>
          <a:prstGeom prst="rect">
            <a:avLst/>
          </a:prstGeom>
          <a:solidFill>
            <a:srgbClr val="2A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0"/>
          <p:cNvSpPr txBox="1"/>
          <p:nvPr/>
        </p:nvSpPr>
        <p:spPr>
          <a:xfrm>
            <a:off x="8503919" y="1719072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🧠  Modelo fundacional propio (LLM)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4" name="Google Shape;464;p10"/>
          <p:cNvSpPr txBox="1"/>
          <p:nvPr/>
        </p:nvSpPr>
        <p:spPr>
          <a:xfrm>
            <a:off x="8503919" y="2615184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🔮  Predicción de LTV (Customer Lifetime Value)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0"/>
          <p:cNvSpPr txBox="1"/>
          <p:nvPr/>
        </p:nvSpPr>
        <p:spPr>
          <a:xfrm>
            <a:off x="8503919" y="3511296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🌐  Soporte para 10+ idiomas</a:t>
            </a:r>
            <a:endParaRPr b="0" i="0" sz="1200" u="none" cap="none" strike="noStrike">
              <a:solidFill>
                <a:srgbClr val="D1D5D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0"/>
          <p:cNvSpPr txBox="1"/>
          <p:nvPr/>
        </p:nvSpPr>
        <p:spPr>
          <a:xfrm>
            <a:off x="8503919" y="4407408"/>
            <a:ext cx="33832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☁️  Despliegue en AWS / GCP con auto-scaling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1117"/>
        </a:solidFill>
      </p:bgPr>
    </p:bg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11"/>
          <p:cNvSpPr/>
          <p:nvPr/>
        </p:nvSpPr>
        <p:spPr>
          <a:xfrm>
            <a:off x="0" y="0"/>
            <a:ext cx="5303400" cy="121800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5303400" y="3401570"/>
            <a:ext cx="6885600" cy="3660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 txBox="1"/>
          <p:nvPr/>
        </p:nvSpPr>
        <p:spPr>
          <a:xfrm>
            <a:off x="5852160" y="1280160"/>
            <a:ext cx="5943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¡Gracias!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1"/>
          <p:cNvSpPr/>
          <p:nvPr/>
        </p:nvSpPr>
        <p:spPr>
          <a:xfrm>
            <a:off x="5773974" y="2194560"/>
            <a:ext cx="5943600" cy="36600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5852160" y="5943600"/>
            <a:ext cx="1371600" cy="6858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11"/>
          <p:cNvSpPr/>
          <p:nvPr/>
        </p:nvSpPr>
        <p:spPr>
          <a:xfrm>
            <a:off x="5852160" y="5943600"/>
            <a:ext cx="1371600" cy="36576"/>
          </a:xfrm>
          <a:prstGeom prst="rect">
            <a:avLst/>
          </a:prstGeom>
          <a:solidFill>
            <a:srgbClr val="34D399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11"/>
          <p:cNvSpPr txBox="1"/>
          <p:nvPr/>
        </p:nvSpPr>
        <p:spPr>
          <a:xfrm>
            <a:off x="5852160" y="59893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97.2%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1"/>
          <p:cNvSpPr txBox="1"/>
          <p:nvPr/>
        </p:nvSpPr>
        <p:spPr>
          <a:xfrm>
            <a:off x="5852160" y="630936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Precisión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7360920" y="5943600"/>
            <a:ext cx="1371600" cy="6858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11"/>
          <p:cNvSpPr/>
          <p:nvPr/>
        </p:nvSpPr>
        <p:spPr>
          <a:xfrm>
            <a:off x="7360920" y="5943600"/>
            <a:ext cx="1371600" cy="36576"/>
          </a:xfrm>
          <a:prstGeom prst="rect">
            <a:avLst/>
          </a:prstGeom>
          <a:solidFill>
            <a:srgbClr val="38BDF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11"/>
          <p:cNvSpPr txBox="1"/>
          <p:nvPr/>
        </p:nvSpPr>
        <p:spPr>
          <a:xfrm>
            <a:off x="7360920" y="59893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271K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1"/>
          <p:cNvSpPr txBox="1"/>
          <p:nvPr/>
        </p:nvSpPr>
        <p:spPr>
          <a:xfrm>
            <a:off x="7360920" y="630936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Reviews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1"/>
          <p:cNvSpPr/>
          <p:nvPr/>
        </p:nvSpPr>
        <p:spPr>
          <a:xfrm>
            <a:off x="8869680" y="5943600"/>
            <a:ext cx="1371600" cy="6858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1"/>
          <p:cNvSpPr/>
          <p:nvPr/>
        </p:nvSpPr>
        <p:spPr>
          <a:xfrm>
            <a:off x="8869680" y="5943600"/>
            <a:ext cx="1371600" cy="36576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1"/>
          <p:cNvSpPr txBox="1"/>
          <p:nvPr/>
        </p:nvSpPr>
        <p:spPr>
          <a:xfrm>
            <a:off x="8869680" y="59893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A78BFA"/>
                </a:solidFill>
                <a:latin typeface="Calibri"/>
                <a:ea typeface="Calibri"/>
                <a:cs typeface="Calibri"/>
                <a:sym typeface="Calibri"/>
              </a:rPr>
              <a:t>24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1"/>
          <p:cNvSpPr txBox="1"/>
          <p:nvPr/>
        </p:nvSpPr>
        <p:spPr>
          <a:xfrm>
            <a:off x="8869680" y="630936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Tests 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1"/>
          <p:cNvSpPr/>
          <p:nvPr/>
        </p:nvSpPr>
        <p:spPr>
          <a:xfrm>
            <a:off x="10378440" y="5943600"/>
            <a:ext cx="1371600" cy="6858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1"/>
          <p:cNvSpPr/>
          <p:nvPr/>
        </p:nvSpPr>
        <p:spPr>
          <a:xfrm>
            <a:off x="10378440" y="5943600"/>
            <a:ext cx="1371600" cy="36576"/>
          </a:xfrm>
          <a:prstGeom prst="rect">
            <a:avLst/>
          </a:prstGeom>
          <a:solidFill>
            <a:srgbClr val="FB923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1"/>
          <p:cNvSpPr txBox="1"/>
          <p:nvPr/>
        </p:nvSpPr>
        <p:spPr>
          <a:xfrm>
            <a:off x="10378440" y="5989320"/>
            <a:ext cx="13716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FB923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1"/>
          <p:cNvSpPr txBox="1"/>
          <p:nvPr/>
        </p:nvSpPr>
        <p:spPr>
          <a:xfrm>
            <a:off x="10378440" y="6309360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Modelos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1" name="Google Shape;491;p11"/>
          <p:cNvSpPr/>
          <p:nvPr/>
        </p:nvSpPr>
        <p:spPr>
          <a:xfrm>
            <a:off x="0" y="0"/>
            <a:ext cx="5303400" cy="6858000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1"/>
          <p:cNvSpPr/>
          <p:nvPr/>
        </p:nvSpPr>
        <p:spPr>
          <a:xfrm>
            <a:off x="1463050" y="640076"/>
            <a:ext cx="2377500" cy="1283700"/>
          </a:xfrm>
          <a:prstGeom prst="rect">
            <a:avLst/>
          </a:prstGeom>
          <a:solidFill>
            <a:srgbClr val="1E2A3E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1"/>
          <p:cNvSpPr txBox="1"/>
          <p:nvPr/>
        </p:nvSpPr>
        <p:spPr>
          <a:xfrm>
            <a:off x="2011680" y="777240"/>
            <a:ext cx="12801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</a:pPr>
            <a:r>
              <a:rPr b="0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1"/>
          <p:cNvSpPr txBox="1"/>
          <p:nvPr/>
        </p:nvSpPr>
        <p:spPr>
          <a:xfrm>
            <a:off x="320040" y="1981285"/>
            <a:ext cx="4663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US" sz="3000" u="none" cap="none" strike="noStrike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ConversaAI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5" name="Google Shape;495;p11"/>
          <p:cNvSpPr txBox="1"/>
          <p:nvPr/>
        </p:nvSpPr>
        <p:spPr>
          <a:xfrm>
            <a:off x="320040" y="2575645"/>
            <a:ext cx="4663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NLP Pipeline v2.0</a:t>
            </a:r>
            <a:endParaRPr b="1" i="0" sz="1400" u="none" cap="none" strike="noStrike">
              <a:solidFill>
                <a:srgbClr val="000000"/>
              </a:solidFill>
            </a:endParaRPr>
          </a:p>
        </p:txBody>
      </p:sp>
      <p:sp>
        <p:nvSpPr>
          <p:cNvPr id="496" name="Google Shape;496;p11"/>
          <p:cNvSpPr/>
          <p:nvPr/>
        </p:nvSpPr>
        <p:spPr>
          <a:xfrm>
            <a:off x="914400" y="3078565"/>
            <a:ext cx="3474600" cy="36600"/>
          </a:xfrm>
          <a:prstGeom prst="rect">
            <a:avLst/>
          </a:prstGeom>
          <a:solidFill>
            <a:srgbClr val="A78BFA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1"/>
          <p:cNvSpPr txBox="1"/>
          <p:nvPr/>
        </p:nvSpPr>
        <p:spPr>
          <a:xfrm>
            <a:off x="320040" y="3215725"/>
            <a:ext cx="4663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No-Country Simulation  ·  S04-26</a:t>
            </a:r>
            <a:endParaRPr b="1"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498" name="Google Shape;498;p11"/>
          <p:cNvSpPr txBox="1"/>
          <p:nvPr/>
        </p:nvSpPr>
        <p:spPr>
          <a:xfrm>
            <a:off x="320040" y="3490045"/>
            <a:ext cx="46635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1" lang="en-US" sz="11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Equipo 40  ·  Data Science</a:t>
            </a:r>
            <a:endParaRPr b="1"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499" name="Google Shape;499;p11"/>
          <p:cNvSpPr txBox="1"/>
          <p:nvPr/>
        </p:nvSpPr>
        <p:spPr>
          <a:xfrm>
            <a:off x="285750" y="3842450"/>
            <a:ext cx="46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Rosa Isela González Díaz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7B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k </a:t>
            </a:r>
            <a:r>
              <a:rPr lang="en-US" sz="9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https://www.linkedin.com/in/rosa-isela-gonzález-díaz/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0" name="Google Shape;50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3100" y="3846250"/>
            <a:ext cx="379875" cy="37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75" y="4073125"/>
            <a:ext cx="162575" cy="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11"/>
          <p:cNvSpPr txBox="1"/>
          <p:nvPr/>
        </p:nvSpPr>
        <p:spPr>
          <a:xfrm>
            <a:off x="285750" y="4394900"/>
            <a:ext cx="46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Jefferson Torres Mangler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7B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k </a:t>
            </a:r>
            <a:r>
              <a:rPr lang="en-US" sz="9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https://www.linkedin.com/in/jefferson-torres-datascientist/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3" name="Google Shape;503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75" y="4625575"/>
            <a:ext cx="162575" cy="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11"/>
          <p:cNvSpPr txBox="1"/>
          <p:nvPr/>
        </p:nvSpPr>
        <p:spPr>
          <a:xfrm>
            <a:off x="285750" y="4947350"/>
            <a:ext cx="46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Dody Dueñas Remache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7B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k </a:t>
            </a:r>
            <a:r>
              <a:rPr lang="en-US" sz="9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https://www.linkedin.com/in/dody-duenas/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5" name="Google Shape;505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75" y="5178025"/>
            <a:ext cx="162575" cy="153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1"/>
          <p:cNvSpPr txBox="1"/>
          <p:nvPr/>
        </p:nvSpPr>
        <p:spPr>
          <a:xfrm>
            <a:off x="285750" y="5480750"/>
            <a:ext cx="4697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Geyson David Morales Ccasa</a:t>
            </a:r>
            <a:endParaRPr sz="1400">
              <a:latin typeface="Calibri"/>
              <a:ea typeface="Calibri"/>
              <a:cs typeface="Calibri"/>
              <a:sym typeface="Calibri"/>
            </a:endParaRPr>
          </a:p>
          <a:p>
            <a:pPr indent="0" lvl="0" marL="91440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rgbClr val="0077B5"/>
                </a:solidFill>
                <a:latin typeface="Material Icons"/>
                <a:ea typeface="Material Icons"/>
                <a:cs typeface="Material Icons"/>
                <a:sym typeface="Material Icons"/>
              </a:rPr>
              <a:t>k </a:t>
            </a:r>
            <a:r>
              <a:rPr lang="en-US" sz="900">
                <a:solidFill>
                  <a:srgbClr val="38BDF8"/>
                </a:solidFill>
                <a:latin typeface="Calibri"/>
                <a:ea typeface="Calibri"/>
                <a:cs typeface="Calibri"/>
                <a:sym typeface="Calibri"/>
              </a:rPr>
              <a:t>https://www.linkedin.com/in/rosa-isela-gonz%C3%A1lez-d%C3%ADaz/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07" name="Google Shape;507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91075" y="5711425"/>
            <a:ext cx="162575" cy="15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8" name="Google Shape;508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3100" y="5518500"/>
            <a:ext cx="379875" cy="379875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509" name="Google Shape;509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3575" y="4424588"/>
            <a:ext cx="379875" cy="379875"/>
          </a:xfrm>
          <a:prstGeom prst="rect">
            <a:avLst/>
          </a:prstGeom>
          <a:solidFill>
            <a:srgbClr val="161C2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</p:pic>
      <p:pic>
        <p:nvPicPr>
          <p:cNvPr id="510" name="Google Shape;510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3089" y="4975138"/>
            <a:ext cx="379875" cy="379875"/>
          </a:xfrm>
          <a:prstGeom prst="rect">
            <a:avLst/>
          </a:prstGeom>
          <a:noFill/>
          <a:ln>
            <a:noFill/>
          </a:ln>
        </p:spPr>
      </p:pic>
      <p:sp>
        <p:nvSpPr>
          <p:cNvPr id="511" name="Google Shape;511;p11"/>
          <p:cNvSpPr txBox="1"/>
          <p:nvPr/>
        </p:nvSpPr>
        <p:spPr>
          <a:xfrm>
            <a:off x="5669280" y="2618252"/>
            <a:ext cx="6126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Pipeline de NLP en Español &amp; Portugués con detección</a:t>
            </a:r>
            <a:br>
              <a:rPr b="0" i="0" lang="en-US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u="none" cap="none" strike="noStrike">
                <a:solidFill>
                  <a:srgbClr val="D1D5DB"/>
                </a:solidFill>
                <a:latin typeface="Calibri"/>
                <a:ea typeface="Calibri"/>
                <a:cs typeface="Calibri"/>
                <a:sym typeface="Calibri"/>
              </a:rPr>
              <a:t>de frustración y predicción de churn en tiempo real.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1"/>
          <p:cNvSpPr txBox="1"/>
          <p:nvPr/>
        </p:nvSpPr>
        <p:spPr>
          <a:xfrm>
            <a:off x="5639942" y="3636778"/>
            <a:ext cx="59436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200" u="none" cap="none" strike="noStrike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🤝  No-Country:</a:t>
            </a:r>
            <a:endParaRPr b="1" i="0" sz="1500" u="none" cap="none" strike="noStrike">
              <a:solidFill>
                <a:srgbClr val="000000"/>
              </a:solidFill>
            </a:endParaRPr>
          </a:p>
        </p:txBody>
      </p:sp>
      <p:sp>
        <p:nvSpPr>
          <p:cNvPr id="513" name="Google Shape;513;p11"/>
          <p:cNvSpPr txBox="1"/>
          <p:nvPr/>
        </p:nvSpPr>
        <p:spPr>
          <a:xfrm>
            <a:off x="5669275" y="3911100"/>
            <a:ext cx="6126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300" u="none" cap="none" strike="noStrike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github.com/No-Country-simulation/S04-26-</a:t>
            </a:r>
            <a:r>
              <a:rPr b="1" lang="en-US" sz="1300">
                <a:solidFill>
                  <a:srgbClr val="34D399"/>
                </a:solidFill>
                <a:latin typeface="Calibri"/>
                <a:ea typeface="Calibri"/>
                <a:cs typeface="Calibri"/>
                <a:sym typeface="Calibri"/>
              </a:rPr>
              <a:t>Equipo-40-Data-Science/tree/dashboard</a:t>
            </a:r>
            <a:endParaRPr b="0" i="0" sz="1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